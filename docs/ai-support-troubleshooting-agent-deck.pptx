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tentia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683427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463040"/>
            <a:ext cx="10789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4400" b="1" i="0">
                <a:solidFill>
                  <a:srgbClr val="FFFFFF"/>
                </a:solidFill>
                <a:latin typeface="Impact"/>
              </a:rPr>
              <a:t>ITENTIAL</a:t>
            </a:r>
          </a:p>
          <a:p>
            <a:pPr algn="l">
              <a:lnSpc>
                <a:spcPct val="92000"/>
              </a:lnSpc>
            </a:pPr>
            <a:r>
              <a:rPr sz="4400" b="1" i="0">
                <a:solidFill>
                  <a:srgbClr val="FFFFFF"/>
                </a:solidFill>
                <a:latin typeface="Impact"/>
              </a:rPr>
              <a:t>TROUBLESHOOTING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24612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C1E7F"/>
                </a:solidFill>
                <a:latin typeface="Segoe UI"/>
              </a:rPr>
              <a:t>AI-Powered Support Engineering — Automated Triage to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749039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9EAF2"/>
                </a:solidFill>
                <a:latin typeface="Segoe UI"/>
              </a:rPr>
              <a:t>A Claude Code skill family that automates the full ISD / IPSO / ENG ticket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9EAF2"/>
                </a:solidFill>
                <a:latin typeface="Segoe UI"/>
              </a:rPr>
              <a:t>investigation lifecycle — triage, diagnosis, escalation, and knowledge contribution.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4572000"/>
            <a:ext cx="324612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C1E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100" b="1">
                <a:solidFill>
                  <a:srgbClr val="F26BAC"/>
                </a:solidFill>
                <a:latin typeface="Segoe UI"/>
              </a:rPr>
              <a:t>8 SPECIALIST SUB-SKILLS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86784" y="4572000"/>
            <a:ext cx="324612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C1E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100" b="1">
                <a:solidFill>
                  <a:srgbClr val="F26BAC"/>
                </a:solidFill>
                <a:latin typeface="Segoe UI"/>
              </a:rPr>
              <a:t>8-PHASE LIFECYCLE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43216" y="4572000"/>
            <a:ext cx="324612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C1E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100" b="1">
                <a:solidFill>
                  <a:srgbClr val="F26BAC"/>
                </a:solidFill>
                <a:latin typeface="Segoe UI"/>
              </a:rPr>
              <a:t>150+ MIN SAVED / TICKET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5102352"/>
            <a:ext cx="2926080" cy="32918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C1E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100" b="1">
                <a:solidFill>
                  <a:srgbClr val="F26BAC"/>
                </a:solidFill>
                <a:latin typeface="Segoe UI"/>
              </a:rPr>
              <a:t>PRODUCT SUPPORT ENGINEERING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08335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16671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25007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33343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41679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50015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58351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6687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75023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083359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5829300"/>
            <a:ext cx="12191695" cy="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15100"/>
            <a:ext cx="12191695" cy="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16671" y="5829300"/>
            <a:ext cx="0" cy="685800"/>
          </a:xfrm>
          <a:prstGeom prst="line">
            <a:avLst/>
          </a:prstGeom>
          <a:ln w="19050">
            <a:solidFill>
              <a:srgbClr val="EC1E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758351" y="5486400"/>
            <a:ext cx="0" cy="685800"/>
          </a:xfrm>
          <a:prstGeom prst="line">
            <a:avLst/>
          </a:prstGeom>
          <a:ln w="19050">
            <a:solidFill>
              <a:srgbClr val="4EA8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975023" y="6172200"/>
            <a:ext cx="0" cy="685800"/>
          </a:xfrm>
          <a:prstGeom prst="line">
            <a:avLst/>
          </a:prstGeom>
          <a:ln w="19050">
            <a:solidFill>
              <a:srgbClr val="EC1E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62615" y="6126480"/>
            <a:ext cx="91440" cy="91440"/>
          </a:xfrm>
          <a:prstGeom prst="ellipse">
            <a:avLst/>
          </a:prstGeom>
          <a:noFill/>
          <a:ln w="12700">
            <a:solidFill>
              <a:srgbClr val="4EA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387623" y="5783580"/>
            <a:ext cx="91440" cy="91440"/>
          </a:xfrm>
          <a:prstGeom prst="ellipse">
            <a:avLst/>
          </a:prstGeom>
          <a:noFill/>
          <a:ln w="12700">
            <a:solidFill>
              <a:srgbClr val="4EA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04295" y="6469380"/>
            <a:ext cx="91440" cy="91440"/>
          </a:xfrm>
          <a:prstGeom prst="ellipse">
            <a:avLst/>
          </a:prstGeom>
          <a:noFill/>
          <a:ln w="12700">
            <a:solidFill>
              <a:srgbClr val="4EA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20967" y="5783580"/>
            <a:ext cx="91440" cy="91440"/>
          </a:xfrm>
          <a:prstGeom prst="ellipse">
            <a:avLst/>
          </a:prstGeom>
          <a:noFill/>
          <a:ln w="12700">
            <a:solidFill>
              <a:srgbClr val="4EA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037639" y="6126480"/>
            <a:ext cx="91440" cy="91440"/>
          </a:xfrm>
          <a:prstGeom prst="ellipse">
            <a:avLst/>
          </a:prstGeom>
          <a:noFill/>
          <a:ln w="12700">
            <a:solidFill>
              <a:srgbClr val="4EA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25007" y="5486400"/>
            <a:ext cx="997502" cy="308610"/>
          </a:xfrm>
          <a:prstGeom prst="rect">
            <a:avLst/>
          </a:prstGeom>
          <a:solidFill>
            <a:srgbClr val="0D1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41679" y="6172200"/>
            <a:ext cx="997502" cy="308610"/>
          </a:xfrm>
          <a:prstGeom prst="rect">
            <a:avLst/>
          </a:prstGeom>
          <a:solidFill>
            <a:srgbClr val="0D1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tentia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00800"/>
            <a:ext cx="857017" cy="2560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046720" y="64739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FA8"/>
                </a:solidFill>
                <a:latin typeface="Segoe UI"/>
              </a:rPr>
              <a:t>© Itential Confidential and Proprietary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Impact"/>
              </a:rPr>
              <a:t>WHY USE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C1E7F"/>
                </a:solidFill>
                <a:latin typeface="Segoe UI"/>
              </a:rPr>
              <a:t>Consistent, safe, and compound-learning investigation for every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Impact"/>
              </a:rPr>
              <a:t>WHAT IT ELIMINATES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5087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Impact"/>
              </a:rPr>
              <a:t>WHAT IT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Manual Jira / Confluence research  (30–60 min per ticket)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95728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Inconsistent investigation depth across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79776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Forgotten ENG escalation packs at case close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63824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Ad hoc resolution knowledge that walks out the door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Structured triage in &lt; 10 minutes per 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95728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Safety guardrails — read-only API, approval-gated writes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79776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Live docs.itential.com lookups during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163824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Persistent resolution library that compounds every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47872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350">
                <a:solidFill>
                  <a:srgbClr val="E9EAF2"/>
                </a:solidFill>
                <a:latin typeface="Segoe UI"/>
              </a:rPr>
              <a:t>Pre-built outage summaries and ENG escalation drafts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83480"/>
            <a:ext cx="3566160" cy="1536192"/>
          </a:xfrm>
          <a:prstGeom prst="roundRect">
            <a:avLst>
              <a:gd name="adj" fmla="val 12000"/>
            </a:avLst>
          </a:prstGeom>
          <a:solidFill>
            <a:srgbClr val="331250"/>
          </a:solidFill>
          <a:ln w="19050">
            <a:solidFill>
              <a:srgbClr val="9B4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" y="5148072"/>
            <a:ext cx="256032" cy="256032"/>
          </a:xfrm>
          <a:prstGeom prst="ellipse">
            <a:avLst/>
          </a:prstGeom>
          <a:noFill/>
          <a:ln w="15875">
            <a:solidFill>
              <a:srgbClr val="9B4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9B4DE8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5120640"/>
            <a:ext cx="28712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Up to 3.5 hrs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5550408"/>
            <a:ext cx="3236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Automated per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6007608"/>
            <a:ext cx="3236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Triage through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0248" y="4983480"/>
            <a:ext cx="3566160" cy="1536192"/>
          </a:xfrm>
          <a:prstGeom prst="roundRect">
            <a:avLst>
              <a:gd name="adj" fmla="val 12000"/>
            </a:avLst>
          </a:prstGeom>
          <a:solidFill>
            <a:srgbClr val="0E2C50"/>
          </a:solidFill>
          <a:ln w="19050">
            <a:solidFill>
              <a:srgbClr val="3D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34840" y="5148072"/>
            <a:ext cx="256032" cy="256032"/>
          </a:xfrm>
          <a:prstGeom prst="ellipse">
            <a:avLst/>
          </a:prstGeom>
          <a:noFill/>
          <a:ln w="15875">
            <a:solidFill>
              <a:srgbClr val="3D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3D9BE8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5120640"/>
            <a:ext cx="28712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Zero unauthorized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550408"/>
            <a:ext cx="3236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Jira / Mongo writes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6007608"/>
            <a:ext cx="3236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without engineer approval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7576" y="4983480"/>
            <a:ext cx="3566160" cy="1536192"/>
          </a:xfrm>
          <a:prstGeom prst="roundRect">
            <a:avLst>
              <a:gd name="adj" fmla="val 12000"/>
            </a:avLst>
          </a:prstGeom>
          <a:solidFill>
            <a:srgbClr val="501236"/>
          </a:solidFill>
          <a:ln w="19050">
            <a:solidFill>
              <a:srgbClr val="E84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5148072"/>
            <a:ext cx="256032" cy="256032"/>
          </a:xfrm>
          <a:prstGeom prst="ellipse">
            <a:avLst/>
          </a:prstGeom>
          <a:noFill/>
          <a:ln w="15875">
            <a:solidFill>
              <a:srgbClr val="E84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84D9B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7928" y="5120640"/>
            <a:ext cx="28712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Grows smarter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5550408"/>
            <a:ext cx="3236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Every resolved ticket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6007608"/>
            <a:ext cx="3236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feeds future triage</a:t>
            </a:r>
          </a:p>
        </p:txBody>
      </p:sp>
      <p:pic>
        <p:nvPicPr>
          <p:cNvPr id="31" name="Picture 30" descr="itentia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00800"/>
            <a:ext cx="857017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46720" y="64739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FA8"/>
                </a:solidFill>
                <a:latin typeface="Segoe UI"/>
              </a:rPr>
              <a:t>© Itential Confidential and Proprietary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Impact"/>
              </a:rPr>
              <a:t>HOW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C1E7F"/>
                </a:solidFill>
                <a:latin typeface="Segoe UI"/>
              </a:rPr>
              <a:t>One command to start — eight sub-skills for targeted deep dives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Impact"/>
              </a:rPr>
              <a:t>STEP 1 —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250">
                <a:solidFill>
                  <a:srgbClr val="E9EAF2"/>
                </a:solidFill>
                <a:latin typeface="Segoe UI"/>
              </a:rPr>
              <a:t>Create .env: PLATFORM_URL, CLIENT_ID, CLIENT_SECRET, JIRA_API_TOKEN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41448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250">
                <a:solidFill>
                  <a:srgbClr val="E9EAF2"/>
                </a:solidFill>
                <a:latin typeface="Segoe UI"/>
              </a:rPr>
              <a:t>Open Claude Code in the troubleshooting-agent repo directory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16936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250">
                <a:solidFill>
                  <a:srgbClr val="E9EAF2"/>
                </a:solidFill>
                <a:latin typeface="Segoe UI"/>
              </a:rPr>
              <a:t>Auth token cached automatically — refreshed after 50-min TTL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5544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Impact"/>
              </a:rPr>
              <a:t>STEP 2 — INVOKE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965960"/>
            <a:ext cx="5394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250">
                <a:solidFill>
                  <a:srgbClr val="E9EAF2"/>
                </a:solidFill>
                <a:latin typeface="Segoe UI"/>
              </a:rPr>
              <a:t>/troubleshoot ISD-XXXX        full 8-phase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404872"/>
            <a:ext cx="5394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250">
                <a:solidFill>
                  <a:srgbClr val="E9EAF2"/>
                </a:solidFill>
                <a:latin typeface="Segoe UI"/>
              </a:rPr>
              <a:t>/troubleshoot-triage ISD-XXXX   triage only (no platform access)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843784"/>
            <a:ext cx="5394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250">
                <a:solidFill>
                  <a:srgbClr val="E9EAF2"/>
                </a:solidFill>
                <a:latin typeface="Segoe UI"/>
              </a:rPr>
              <a:t>/troubleshoot-adapters          adapter OFFLINE + Kafka 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282696"/>
            <a:ext cx="5394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250">
                <a:solidFill>
                  <a:srgbClr val="E9EAF2"/>
                </a:solidFill>
                <a:latin typeface="Segoe UI"/>
              </a:rPr>
              <a:t>/troubleshoot-workflows         job / task / JST failures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721608"/>
            <a:ext cx="5394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250">
                <a:solidFill>
                  <a:srgbClr val="E9EAF2"/>
                </a:solidFill>
                <a:latin typeface="Segoe UI"/>
              </a:rPr>
              <a:t>/troubleshoot-databases         MongoDB + Redis + ElastiCache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160520"/>
            <a:ext cx="5394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250">
                <a:solidFill>
                  <a:srgbClr val="E9EAF2"/>
                </a:solidFill>
                <a:latin typeface="Segoe UI"/>
              </a:rPr>
              <a:t>/troubleshoot-infra             CPU, EKS, SSH, OOMKilled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599432"/>
            <a:ext cx="5394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250">
                <a:solidFill>
                  <a:srgbClr val="E9EAF2"/>
                </a:solidFill>
                <a:latin typeface="Segoe UI"/>
              </a:rPr>
              <a:t>/troubleshoot-logs              cross-component log 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038344"/>
            <a:ext cx="5394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250">
                <a:solidFill>
                  <a:srgbClr val="E9EAF2"/>
                </a:solidFill>
                <a:latin typeface="Segoe UI"/>
              </a:rPr>
              <a:t>/contribute ISD-XXXX           knowledge PR (automated)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19472"/>
            <a:ext cx="11201400" cy="1645920"/>
          </a:xfrm>
          <a:prstGeom prst="roundRect">
            <a:avLst>
              <a:gd name="adj" fmla="val 4500"/>
            </a:avLst>
          </a:prstGeom>
          <a:solidFill>
            <a:srgbClr val="10122C"/>
          </a:solidFill>
          <a:ln w="12700">
            <a:solidFill>
              <a:srgbClr val="242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5056632"/>
            <a:ext cx="2633472" cy="1371600"/>
          </a:xfrm>
          <a:prstGeom prst="roundRect">
            <a:avLst>
              <a:gd name="adj" fmla="val 12000"/>
            </a:avLst>
          </a:prstGeom>
          <a:solidFill>
            <a:srgbClr val="0E2C50"/>
          </a:solidFill>
          <a:ln w="19050">
            <a:solidFill>
              <a:srgbClr val="3D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" y="5221224"/>
            <a:ext cx="256032" cy="256032"/>
          </a:xfrm>
          <a:prstGeom prst="ellipse">
            <a:avLst/>
          </a:prstGeom>
          <a:noFill/>
          <a:ln w="15875">
            <a:solidFill>
              <a:srgbClr val="3D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3D9BE8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5193792"/>
            <a:ext cx="19385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1. Reads Ticket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5623560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Jira + Confluence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6080760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docs.itential.com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83864" y="5056632"/>
            <a:ext cx="2633472" cy="1371600"/>
          </a:xfrm>
          <a:prstGeom prst="roundRect">
            <a:avLst>
              <a:gd name="adj" fmla="val 12000"/>
            </a:avLst>
          </a:prstGeom>
          <a:solidFill>
            <a:srgbClr val="331250"/>
          </a:solidFill>
          <a:ln w="19050">
            <a:solidFill>
              <a:srgbClr val="9B4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48456" y="5221224"/>
            <a:ext cx="256032" cy="256032"/>
          </a:xfrm>
          <a:prstGeom prst="ellipse">
            <a:avLst/>
          </a:prstGeom>
          <a:noFill/>
          <a:ln w="15875">
            <a:solidFill>
              <a:srgbClr val="9B4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9B4DE8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4216" y="5193792"/>
            <a:ext cx="19385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2. Diagnoses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8456" y="5623560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Platform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8456" y="6080760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MongoDB / Redis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1928" y="5056632"/>
            <a:ext cx="2633472" cy="1371600"/>
          </a:xfrm>
          <a:prstGeom prst="roundRect">
            <a:avLst>
              <a:gd name="adj" fmla="val 12000"/>
            </a:avLst>
          </a:prstGeom>
          <a:solidFill>
            <a:srgbClr val="501236"/>
          </a:solidFill>
          <a:ln w="19050">
            <a:solidFill>
              <a:srgbClr val="E84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46520" y="5221224"/>
            <a:ext cx="256032" cy="256032"/>
          </a:xfrm>
          <a:prstGeom prst="ellipse">
            <a:avLst/>
          </a:prstGeom>
          <a:noFill/>
          <a:ln w="15875">
            <a:solidFill>
              <a:srgbClr val="E84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84D9B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5193792"/>
            <a:ext cx="19385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3. Drafts 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623560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ENG ticket draft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6080760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Outage report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79992" y="5056632"/>
            <a:ext cx="2633472" cy="1371600"/>
          </a:xfrm>
          <a:prstGeom prst="roundRect">
            <a:avLst>
              <a:gd name="adj" fmla="val 12000"/>
            </a:avLst>
          </a:prstGeom>
          <a:solidFill>
            <a:srgbClr val="503012"/>
          </a:solidFill>
          <a:ln w="1905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44584" y="5221224"/>
            <a:ext cx="256032" cy="256032"/>
          </a:xfrm>
          <a:prstGeom prst="ellipse">
            <a:avLst/>
          </a:prstGeom>
          <a:noFill/>
          <a:ln w="15875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09B3D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0344" y="5193792"/>
            <a:ext cx="19385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4. Learns &amp; Contributes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44584" y="5623560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/contribute PR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6080760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known-resolutions.md</a:t>
            </a:r>
          </a:p>
        </p:txBody>
      </p:sp>
      <p:pic>
        <p:nvPicPr>
          <p:cNvPr id="39" name="Picture 38" descr="itentia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00800"/>
            <a:ext cx="857017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046720" y="64739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FA8"/>
                </a:solidFill>
                <a:latin typeface="Segoe UI"/>
              </a:rPr>
              <a:t>© Itential Confidential and Proprietary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Impact"/>
              </a:rPr>
              <a:t>WHEN TO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C1E7F"/>
                </a:solidFill>
                <a:latin typeface="Segoe UI"/>
              </a:rPr>
              <a:t>Any ISD · IPSO · ENG ticket — adapter offline to end-of-sprint knowledge capture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11201400" cy="5074920"/>
          </a:xfrm>
          <a:prstGeom prst="roundRect">
            <a:avLst>
              <a:gd name="adj" fmla="val 4500"/>
            </a:avLst>
          </a:prstGeom>
          <a:solidFill>
            <a:srgbClr val="10122C"/>
          </a:solidFill>
          <a:ln w="12700">
            <a:solidFill>
              <a:srgbClr val="242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719072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331250"/>
          </a:solidFill>
          <a:ln w="19050">
            <a:solidFill>
              <a:srgbClr val="9B4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1883664"/>
            <a:ext cx="256032" cy="256032"/>
          </a:xfrm>
          <a:prstGeom prst="ellipse">
            <a:avLst/>
          </a:prstGeom>
          <a:noFill/>
          <a:ln w="15875">
            <a:solidFill>
              <a:srgbClr val="9B4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9B4DE8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1856232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Adapter Offline / 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86000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Cloud NAT IP whitelist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43200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OSS source inspection (GitLab)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719072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501236"/>
          </a:solidFill>
          <a:ln w="19050">
            <a:solidFill>
              <a:srgbClr val="E84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1144" y="1883664"/>
            <a:ext cx="256032" cy="256032"/>
          </a:xfrm>
          <a:prstGeom prst="ellipse">
            <a:avLst/>
          </a:prstGeom>
          <a:noFill/>
          <a:ln w="15875">
            <a:solidFill>
              <a:srgbClr val="E84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84D9B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1856232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Workflow / Job Failures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286000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JST errors, childJob chains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743200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Import failures, task stuck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719072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503012"/>
          </a:solidFill>
          <a:ln w="1905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84464" y="1883664"/>
            <a:ext cx="256032" cy="256032"/>
          </a:xfrm>
          <a:prstGeom prst="ellipse">
            <a:avLst/>
          </a:prstGeom>
          <a:noFill/>
          <a:ln w="15875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09B3D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0224" y="1856232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Database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286000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MongoDB COLLSCAN / slow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743200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Redis eviction, Bull queues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142232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404612"/>
          </a:solidFill>
          <a:ln w="19050">
            <a:solidFill>
              <a:srgbClr val="B8C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4306824"/>
            <a:ext cx="256032" cy="256032"/>
          </a:xfrm>
          <a:prstGeom prst="ellipse">
            <a:avLst/>
          </a:prstGeom>
          <a:noFill/>
          <a:ln w="15875">
            <a:solidFill>
              <a:srgbClr val="B8C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B8C22E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4279392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Infrastructure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709160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OOMKilled containers / EKS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5166360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CPU / disk / SSH multi-host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6552" y="4142232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0E2C50"/>
          </a:solidFill>
          <a:ln w="19050">
            <a:solidFill>
              <a:srgbClr val="3D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81144" y="4306824"/>
            <a:ext cx="256032" cy="256032"/>
          </a:xfrm>
          <a:prstGeom prst="ellipse">
            <a:avLst/>
          </a:prstGeom>
          <a:noFill/>
          <a:ln w="15875">
            <a:solidFill>
              <a:srgbClr val="3D9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3D9BE8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6904" y="4279392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S1 / S2 Outage 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4709160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Auto outage summary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144" y="5166360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Problem ticket clone for RCA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2" y="4142232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501212"/>
          </a:solidFill>
          <a:ln w="19050">
            <a:solidFill>
              <a:srgbClr val="E8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84464" y="4306824"/>
            <a:ext cx="256032" cy="256032"/>
          </a:xfrm>
          <a:prstGeom prst="ellipse">
            <a:avLst/>
          </a:prstGeom>
          <a:noFill/>
          <a:ln w="15875">
            <a:solidFill>
              <a:srgbClr val="E8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E84D4D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0224" y="4279392"/>
            <a:ext cx="28254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End-of-Sprint Knowledge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4709160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/contribute scan — batch PR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5166360"/>
            <a:ext cx="31912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9EAF2"/>
                </a:solidFill>
                <a:latin typeface="Segoe UI"/>
              </a:rPr>
              <a:t>• known-resolutions.md update</a:t>
            </a:r>
          </a:p>
        </p:txBody>
      </p:sp>
      <p:pic>
        <p:nvPicPr>
          <p:cNvPr id="36" name="Picture 35" descr="itentia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00800"/>
            <a:ext cx="857017" cy="2560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046720" y="64739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FA8"/>
                </a:solidFill>
                <a:latin typeface="Segoe UI"/>
              </a:rPr>
              <a:t>© Itential Confidential and Proprietary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Impact"/>
              </a:rPr>
              <a:t>REFERENCES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C1E7F"/>
                </a:solidFill>
                <a:latin typeface="Segoe UI"/>
              </a:rPr>
              <a:t>Where to learn more — and where the skill looks during every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5486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Impact"/>
              </a:rPr>
              <a:t>EXTERNAL DOCS &amp; REPOS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56816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150">
                <a:solidFill>
                  <a:srgbClr val="E9EAF2"/>
                </a:solidFill>
                <a:latin typeface="Segoe UI"/>
              </a:rPr>
              <a:t>docs.itential.com/itential-platform       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59152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150">
                <a:solidFill>
                  <a:srgbClr val="E9EAF2"/>
                </a:solidFill>
                <a:latin typeface="Segoe UI"/>
              </a:rPr>
              <a:t>docs.itential.com/itential-gateway/5       IAG 5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61488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150">
                <a:solidFill>
                  <a:srgbClr val="E9EAF2"/>
                </a:solidFill>
                <a:latin typeface="Segoe UI"/>
              </a:rPr>
              <a:t>docs.itential.com/itential-gateway/4       IAG 4 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63824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150">
                <a:solidFill>
                  <a:srgbClr val="E9EAF2"/>
                </a:solidFill>
                <a:latin typeface="Segoe UI"/>
              </a:rPr>
              <a:t>docs.itential.com/adapters                 Adapter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66160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150">
                <a:solidFill>
                  <a:srgbClr val="E9EAF2"/>
                </a:solidFill>
                <a:latin typeface="Segoe UI"/>
              </a:rPr>
              <a:t>docs.itential.com/itential-cloud           Cloud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68496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150">
                <a:solidFill>
                  <a:srgbClr val="E9EAF2"/>
                </a:solidFill>
                <a:latin typeface="Segoe UI"/>
              </a:rPr>
              <a:t>docs.itential.com/cisco-nso                Cisco NSO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70832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150">
                <a:solidFill>
                  <a:srgbClr val="E9EAF2"/>
                </a:solidFill>
                <a:latin typeface="Segoe UI"/>
              </a:rPr>
              <a:t>gitlab.com/itentialopensource/adapters      OSS adapter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8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150">
                <a:solidFill>
                  <a:srgbClr val="E9EAF2"/>
                </a:solidFill>
                <a:latin typeface="Segoe UI"/>
              </a:rPr>
              <a:t>github.com/itentialmo15/troubleshooting-agent-skill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5486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Impact"/>
              </a:rPr>
              <a:t>INTERNAL FILES &amp; JIRA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150">
                <a:solidFill>
                  <a:srgbClr val="E9EAF2"/>
                </a:solidFill>
                <a:latin typeface="Segoe UI"/>
              </a:rPr>
              <a:t>docs/troubleshooting-agent-guide.html      Full HTML user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150">
                <a:solidFill>
                  <a:srgbClr val="E9EAF2"/>
                </a:solidFill>
                <a:latin typeface="Segoe UI"/>
              </a:rPr>
              <a:t>data/known-resolutions.md                  Resolution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61488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150">
                <a:solidFill>
                  <a:srgbClr val="E9EAF2"/>
                </a:solidFill>
                <a:latin typeface="Segoe UI"/>
              </a:rPr>
              <a:t>data/product-capability-reference.md       Product facts + bugs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63824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150">
                <a:solidFill>
                  <a:srgbClr val="E9EAF2"/>
                </a:solidFill>
                <a:latin typeface="Segoe UI"/>
              </a:rPr>
              <a:t>.claude/skills/troubleshoot/SKILL.md       Orchestrator skill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150">
                <a:solidFill>
                  <a:srgbClr val="E9EAF2"/>
                </a:solidFill>
                <a:latin typeface="Segoe UI"/>
              </a:rPr>
              <a:t>.env  (gitignored)                         Credentials;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68496"/>
            <a:ext cx="54864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solidFill>
                  <a:srgbClr val="EC1E7F"/>
                </a:solidFill>
                <a:latin typeface="Segoe UI"/>
              </a:rPr>
              <a:t>❯  </a:t>
            </a:r>
            <a:r>
              <a:rPr sz="1150">
                <a:solidFill>
                  <a:srgbClr val="E9EAF2"/>
                </a:solidFill>
                <a:latin typeface="Segoe UI"/>
              </a:rPr>
              <a:t>Jira: ISD (customer), IPSO (ops), ENG (engineering bugs)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08335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16671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25007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33343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41679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650015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58351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66687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975023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083359" y="5486400"/>
            <a:ext cx="0" cy="137160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829300"/>
            <a:ext cx="12191695" cy="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515100"/>
            <a:ext cx="12191695" cy="0"/>
          </a:xfrm>
          <a:prstGeom prst="line">
            <a:avLst/>
          </a:prstGeom>
          <a:ln w="9525">
            <a:solidFill>
              <a:srgbClr val="1C223E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6671" y="5829300"/>
            <a:ext cx="0" cy="685800"/>
          </a:xfrm>
          <a:prstGeom prst="line">
            <a:avLst/>
          </a:prstGeom>
          <a:ln w="19050">
            <a:solidFill>
              <a:srgbClr val="EC1E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58351" y="5486400"/>
            <a:ext cx="0" cy="685800"/>
          </a:xfrm>
          <a:prstGeom prst="line">
            <a:avLst/>
          </a:prstGeom>
          <a:ln w="19050">
            <a:solidFill>
              <a:srgbClr val="4EA8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975023" y="6172200"/>
            <a:ext cx="0" cy="685800"/>
          </a:xfrm>
          <a:prstGeom prst="line">
            <a:avLst/>
          </a:prstGeom>
          <a:ln w="19050">
            <a:solidFill>
              <a:srgbClr val="EC1E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62615" y="6126480"/>
            <a:ext cx="91440" cy="91440"/>
          </a:xfrm>
          <a:prstGeom prst="ellipse">
            <a:avLst/>
          </a:prstGeom>
          <a:noFill/>
          <a:ln w="12700">
            <a:solidFill>
              <a:srgbClr val="4EA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7623" y="5783580"/>
            <a:ext cx="91440" cy="91440"/>
          </a:xfrm>
          <a:prstGeom prst="ellipse">
            <a:avLst/>
          </a:prstGeom>
          <a:noFill/>
          <a:ln w="12700">
            <a:solidFill>
              <a:srgbClr val="4EA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604295" y="6469380"/>
            <a:ext cx="91440" cy="91440"/>
          </a:xfrm>
          <a:prstGeom prst="ellipse">
            <a:avLst/>
          </a:prstGeom>
          <a:noFill/>
          <a:ln w="12700">
            <a:solidFill>
              <a:srgbClr val="4EA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820967" y="5783580"/>
            <a:ext cx="91440" cy="91440"/>
          </a:xfrm>
          <a:prstGeom prst="ellipse">
            <a:avLst/>
          </a:prstGeom>
          <a:noFill/>
          <a:ln w="12700">
            <a:solidFill>
              <a:srgbClr val="4EA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037639" y="6126480"/>
            <a:ext cx="91440" cy="91440"/>
          </a:xfrm>
          <a:prstGeom prst="ellipse">
            <a:avLst/>
          </a:prstGeom>
          <a:noFill/>
          <a:ln w="12700">
            <a:solidFill>
              <a:srgbClr val="4EA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25007" y="5486400"/>
            <a:ext cx="997502" cy="308610"/>
          </a:xfrm>
          <a:prstGeom prst="rect">
            <a:avLst/>
          </a:prstGeom>
          <a:solidFill>
            <a:srgbClr val="0D1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541679" y="6172200"/>
            <a:ext cx="997502" cy="308610"/>
          </a:xfrm>
          <a:prstGeom prst="rect">
            <a:avLst/>
          </a:prstGeom>
          <a:solidFill>
            <a:srgbClr val="0D1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tential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00800"/>
            <a:ext cx="857017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046720" y="647395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B8FA8"/>
                </a:solidFill>
                <a:latin typeface="Segoe UI"/>
              </a:rPr>
              <a:t>© Itential Confidential and Proprietary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